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793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43200" cy="1285465"/>
          </a:xfrm>
          <a:prstGeom prst="roundRect">
            <a:avLst>
              <a:gd name="adj" fmla="val 640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synlia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67512"/>
            <a:ext cx="2286000" cy="956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SQF Platform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2999232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Agent-powered supply-chain finance and invoice factoring —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bank-grade security, human-governed AI operations.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4160520"/>
            <a:ext cx="7863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Murphy</a:t>
            </a: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Founder &amp; Lead Architect  ·  Synlian Data@Source  ·  www.synlian.net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by a Payments Industry Veteran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platform is designed and governed by an architect with two decades in Asia-Pacific financial services.</a:t>
            </a:r>
            <a:endParaRPr lang="en-US" sz="1250" dirty="0"/>
          </a:p>
        </p:txBody>
      </p:sp>
      <p:pic>
        <p:nvPicPr>
          <p:cNvPr id="4" name="Image 0" descr="synlian-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63" y="365760"/>
            <a:ext cx="882637" cy="256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80160"/>
            <a:ext cx="2880360" cy="3383280"/>
          </a:xfrm>
          <a:prstGeom prst="roundRect">
            <a:avLst>
              <a:gd name="adj" fmla="val 2857"/>
            </a:avLst>
          </a:prstGeom>
          <a:solidFill>
            <a:srgbClr val="0F172A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463040" y="1572768"/>
            <a:ext cx="868680" cy="86868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463040" y="157276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254203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Murphy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57200" y="288950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Executive Officer, Synlian QF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Singapore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566160"/>
            <a:ext cx="22402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36758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Mastercard  ·  BasisBay  ·  Synlian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9651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linkedin.com/in/tony-murphy-387398a5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703320" y="137160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3048" y="148132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61688" y="1316736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in payments &amp; e-commerce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361688" y="1609344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decades building payment and commerce platforms across Asia Pacific, including senior roles at Mastercard, Singtel and Accenture.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703320" y="251460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3048" y="262432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61688" y="2459736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supply-chain finance specialist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361688" y="2752344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domain expertise in scheme cards and digital wallets, merchant acquiring, and supply-chain finance for the SME segment.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703320" y="365760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3048" y="376732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361688" y="3602736"/>
            <a:ext cx="4325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end to end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4361688" y="3895344"/>
            <a:ext cx="4325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process design, data and technical architecture, and business analytics — from operating model to production code.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SQF Platform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modular, cloud-native financial platform for supply-chain finance and invoice factoring.</a:t>
            </a:r>
            <a:endParaRPr lang="en-US" sz="1250" dirty="0"/>
          </a:p>
        </p:txBody>
      </p:sp>
      <p:pic>
        <p:nvPicPr>
          <p:cNvPr id="4" name="Image 0" descr="synlian-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63" y="365760"/>
            <a:ext cx="882637" cy="256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61872"/>
            <a:ext cx="2624328" cy="1389888"/>
          </a:xfrm>
          <a:prstGeom prst="roundRect">
            <a:avLst>
              <a:gd name="adj" fmla="val 4605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4264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1522476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856" y="142646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Directory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1883664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Identity, organisations and secure access for every participant.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264408" y="1261872"/>
            <a:ext cx="2624328" cy="1389888"/>
          </a:xfrm>
          <a:prstGeom prst="roundRect">
            <a:avLst>
              <a:gd name="adj" fmla="val 4605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447288" y="14264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152247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41064" y="142646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Operation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3447288" y="1883664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applications, risk scoring and Experian credit-bureau integration.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071616" y="1261872"/>
            <a:ext cx="2624328" cy="1389888"/>
          </a:xfrm>
          <a:prstGeom prst="roundRect">
            <a:avLst>
              <a:gd name="adj" fmla="val 4605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254496" y="142646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08" y="1522476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48272" y="1426464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Coverage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254496" y="1883664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management and client-assignee workflows.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57200" y="2852928"/>
            <a:ext cx="2624328" cy="1389888"/>
          </a:xfrm>
          <a:prstGeom prst="roundRect">
            <a:avLst>
              <a:gd name="adj" fmla="val 4605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3113532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33856" y="30175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Intelligence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40080" y="347472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document extraction with human review of every AI transcription.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3264408" y="2852928"/>
            <a:ext cx="2624328" cy="1389888"/>
          </a:xfrm>
          <a:prstGeom prst="roundRect">
            <a:avLst>
              <a:gd name="adj" fmla="val 4605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3447288" y="30175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3300" y="3113532"/>
            <a:ext cx="192024" cy="19202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41064" y="30175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3447288" y="347472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client and security communications.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071616" y="2852928"/>
            <a:ext cx="2624328" cy="1389888"/>
          </a:xfrm>
          <a:prstGeom prst="roundRect">
            <a:avLst>
              <a:gd name="adj" fmla="val 4605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3"/>
          <p:cNvSpPr/>
          <p:nvPr/>
        </p:nvSpPr>
        <p:spPr>
          <a:xfrm>
            <a:off x="6254496" y="30175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0508" y="3113532"/>
            <a:ext cx="192024" cy="19202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748272" y="3017520"/>
            <a:ext cx="1801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Web Portal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6254496" y="3474720"/>
            <a:ext cx="225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modern, responsive web experience for staff and clients.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hood:  </a:t>
            </a: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independent domain services  ·  database-per-service isolation  ·  exactly-once event processing  ·  Claude AI document extraction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Manage the Build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governed, hybrid human + AI engineering organisation — human authority at every gate.</a:t>
            </a:r>
            <a:endParaRPr lang="en-US" sz="1250" dirty="0"/>
          </a:p>
        </p:txBody>
      </p:sp>
      <p:pic>
        <p:nvPicPr>
          <p:cNvPr id="4" name="Image 0" descr="synlian-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63" y="365760"/>
            <a:ext cx="882637" cy="256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43560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15568" y="12710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design authority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115568" y="1563624"/>
            <a:ext cx="4005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architecture, schema and compliance decision is signed off by the lead architect. Anything irreversible — money movement, credit decisions, production data — requires human approval.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260604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7157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255117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20-agent AI engineering team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15568" y="2843784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Specialised AI agents handle analysis, design, implementation, testing, release and monitoring — all operating under a written constitution with defined escalation rules.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95020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37856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without compromise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115568" y="4078224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Test-driven development plus behavioural evaluations. Every test runs end-to-end against real databases and real messaging — no mocks, ever.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486400" y="1207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 PIPELINE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486400" y="155448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5596128" y="164592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559612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961888" y="155448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domain design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86400" y="2130552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596128" y="2221992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596128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961888" y="213055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Contracts, tests &amp; evals — before code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0" y="2706624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5596128" y="2798064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5596128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961888" y="270662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by build agents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0" y="328269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596128" y="3374136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5596128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961888" y="328269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security review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486400" y="3858768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596128" y="3950208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5596128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961888" y="385876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 sign-off gate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5486400" y="443484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596128" y="452628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4"/>
          <p:cNvSpPr/>
          <p:nvPr/>
        </p:nvSpPr>
        <p:spPr>
          <a:xfrm>
            <a:off x="5596128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5961888" y="44348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release &amp; graduated rollout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at the Core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Bank Negara Malaysia internet-banking security standards from day one.</a:t>
            </a:r>
            <a:endParaRPr lang="en-US" sz="1250" dirty="0"/>
          </a:p>
        </p:txBody>
      </p:sp>
      <p:pic>
        <p:nvPicPr>
          <p:cNvPr id="4" name="Image 0" descr="synlian-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63" y="365760"/>
            <a:ext cx="882637" cy="256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43584"/>
            <a:ext cx="4023360" cy="1426464"/>
          </a:xfrm>
          <a:prstGeom prst="roundRect">
            <a:avLst>
              <a:gd name="adj" fmla="val 4487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38074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1476756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856" y="13807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Bank-grade session security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tokens are stored only as one-way hashes and rotated on every use. Session cookies are invisible to browser scripts; access tokens are never persisted on the device.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663440" y="1243584"/>
            <a:ext cx="4023360" cy="1426464"/>
          </a:xfrm>
          <a:prstGeom prst="roundRect">
            <a:avLst>
              <a:gd name="adj" fmla="val 4487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46320" y="1380744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332" y="147675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0096" y="13807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threat response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846320" y="18288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replayed stolen token revokes the entire session family and alerts the account holder. Five failed logins lock the account and trigger an immediate alert email.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2834640"/>
            <a:ext cx="4023360" cy="1426464"/>
          </a:xfrm>
          <a:prstGeom prst="roundRect">
            <a:avLst>
              <a:gd name="adj" fmla="val 4487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" y="3067812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2971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Regulator-ready audit trail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0080" y="341985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authentication event — login, refresh, lockout, logout — is written to an append-only audit log: a tamper-evident evidence trail for regulatory audits.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663440" y="2834640"/>
            <a:ext cx="4023360" cy="1426464"/>
          </a:xfrm>
          <a:prstGeom prst="roundRect">
            <a:avLst>
              <a:gd name="adj" fmla="val 4487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846320" y="297180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332" y="3067812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0096" y="2971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Defence in depth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846320" y="341985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Rate-limited endpoints, hardened HTTP headers, strict cookie policy, parameterised data access and zero hardcoded secrets across every service.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457200" y="4498848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640080" y="449884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hardening roadmap:  </a:t>
            </a:r>
            <a:r>
              <a:rPr lang="en-US" sz="10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multi-factor authentication for disbursement roles  ·  HTTPS + HSTS  ·  breached-password screening  ·  login anomaly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for Every Operating Role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Specialised agents progressively take on judgment work — the platform beneath them stays the deterministic, auditable system of record.</a:t>
            </a:r>
            <a:endParaRPr lang="en-US" sz="1250" dirty="0"/>
          </a:p>
        </p:txBody>
      </p:sp>
      <p:pic>
        <p:nvPicPr>
          <p:cNvPr id="4" name="Image 0" descr="synlian-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63" y="365760"/>
            <a:ext cx="882637" cy="2560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325880"/>
            <a:ext cx="4023360" cy="1481328"/>
          </a:xfrm>
          <a:prstGeom prst="roundRect">
            <a:avLst>
              <a:gd name="adj" fmla="val 4321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4813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1577340"/>
            <a:ext cx="192024" cy="1920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3856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&amp; Risk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19476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applications and credit-bureau data, applies your credit policy, and recommends or decides — every decision carries a confidence score and a full audit trail.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663440" y="1325880"/>
            <a:ext cx="4023360" cy="1481328"/>
          </a:xfrm>
          <a:prstGeom prst="roundRect">
            <a:avLst>
              <a:gd name="adj" fmla="val 4321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46320" y="14813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332" y="1577340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40096" y="14813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Policy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846320" y="19476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versioned policy register — credit policy, KYC, limits, jurisdiction rules — plus an independent security agent that can block any release and can never waive its own findings.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7200" y="2990088"/>
            <a:ext cx="4023360" cy="1481328"/>
          </a:xfrm>
          <a:prstGeom prst="roundRect">
            <a:avLst>
              <a:gd name="adj" fmla="val 4321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640080" y="314553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" y="3241548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33856" y="3145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Accounting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4008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Reconciliation, ledger management and reporting, with a consolidated daily report to its human supervisor — modelled on a daily stand-up.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663440" y="2990088"/>
            <a:ext cx="4023360" cy="1481328"/>
          </a:xfrm>
          <a:prstGeom prst="roundRect">
            <a:avLst>
              <a:gd name="adj" fmla="val 4321"/>
            </a:avLst>
          </a:prstGeom>
          <a:solidFill>
            <a:srgbClr val="F0F7FC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846320" y="314553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332" y="3241548"/>
            <a:ext cx="192024" cy="1920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40096" y="31455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Management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846320" y="36118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engagement, onboarding and relationship workflows managed end-to-end, always scoped to your organisation's own data.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execution stays deterministic and human-approved — the highest-stakes role is the last to gain autonomy. </a:t>
            </a: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orchestrator routes work between agents; it never makes domain decisions itself.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You Can Audit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earn trust one role at a time — with a rollback to human operation possible at every stage.</a:t>
            </a:r>
            <a:endParaRPr lang="en-US" sz="1250" dirty="0"/>
          </a:p>
        </p:txBody>
      </p:sp>
      <p:pic>
        <p:nvPicPr>
          <p:cNvPr id="4" name="Image 0" descr="synlian-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163" y="365760"/>
            <a:ext cx="882637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AUTONOMY RAMP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85216" y="1783080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5216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87552" y="1572768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works alongside your team; its output is compared, never used.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2414016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5216" y="2624328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85216" y="2624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87552" y="2414016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proposes; a human approves every action.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3255264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85216" y="346557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85216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87552" y="3255264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by exception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cases proceed; humans review the exceptions.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4096512"/>
            <a:ext cx="4160520" cy="713232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85216" y="4306824"/>
            <a:ext cx="292608" cy="292608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85216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87552" y="4096512"/>
            <a:ext cx="3502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within bounds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autonomy only inside an envelope the architect has explicitly approved.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983480" y="1234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CARRIES A CONFIDENCE SCORE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572768"/>
          <a:ext cx="3703320" cy="20299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 (≥ 0.95)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Autonomous — only in tiers your architect has approved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(0.85 – 0.95)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Proceeds; humans review by exception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 (0.70 – 0.85)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Routed to human review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0.70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Mandatory escalation — the agent must hand over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4983480" y="3703320"/>
            <a:ext cx="3703320" cy="1051560"/>
          </a:xfrm>
          <a:prstGeom prst="roundRect">
            <a:avLst>
              <a:gd name="adj" fmla="val 6087"/>
            </a:avLst>
          </a:prstGeom>
          <a:solidFill>
            <a:srgbClr val="F0F7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148072" y="3794760"/>
            <a:ext cx="3374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rules, not guidelines. </a:t>
            </a: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 ever moves money or issues a final credit decision outside an approved envelope. Decision priority is fixed: regulatory compliance first, then customer fairness, auditability, reliability — cost and speed come last.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64992" y="685800"/>
            <a:ext cx="2414016" cy="1134135"/>
          </a:xfrm>
          <a:prstGeom prst="roundRect">
            <a:avLst>
              <a:gd name="adj" fmla="val 645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F172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synlia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832104"/>
            <a:ext cx="2011680" cy="841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of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supply-chain finance.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age applications for digital age supply chains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194560" y="397764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Tony Murphy</a:t>
            </a: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Founder &amp; Lead Architect  ·  </a:t>
            </a:r>
            <a:r>
              <a:rPr lang="en-US" sz="13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www.synlian.net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4622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linkedin.com/in/tony-murphy-387398a5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4211</TotalTime>
  <Words>970</Words>
  <Application>Microsoft Macintosh PowerPoint</Application>
  <PresentationFormat>On-screen Show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SQF Platform — Client Showcase</dc:title>
  <dc:subject>PptxGenJS Presentation</dc:subject>
  <dc:creator>Tony Murphy — Synlian Data@Source</dc:creator>
  <cp:lastModifiedBy>tony murphy</cp:lastModifiedBy>
  <cp:revision>2</cp:revision>
  <dcterms:created xsi:type="dcterms:W3CDTF">2026-07-10T04:31:34Z</dcterms:created>
  <dcterms:modified xsi:type="dcterms:W3CDTF">2026-07-13T02:45:50Z</dcterms:modified>
</cp:coreProperties>
</file>